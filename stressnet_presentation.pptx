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68" r:id="rId5"/>
    <p:sldId id="258" r:id="rId6"/>
    <p:sldId id="269" r:id="rId7"/>
    <p:sldId id="259" r:id="rId8"/>
    <p:sldId id="260" r:id="rId9"/>
    <p:sldId id="266" r:id="rId10"/>
    <p:sldId id="261" r:id="rId11"/>
    <p:sldId id="262" r:id="rId12"/>
    <p:sldId id="263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6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4695E-CE59-2FBB-DEA4-33A6C28D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1B297-B86B-C1A2-D592-C201805BD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FC4B0-8043-DAA7-C867-1530FF224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C6B52-D951-C53A-C99F-A2A201967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94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12F54-06B4-EBBC-90C0-7D2A89652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076BD8-6255-59B3-800E-B53E6B949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9797C-D7EB-3EF4-F794-32D921B33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8087B-0A49-4B03-C6DD-C85AD7967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40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66D5-F4F9-DF76-882F-55B841D7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46EA4-06CA-48CF-FE14-AE7276079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AB46C-683B-5127-1719-5313F71B7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F4F76-D182-7E8B-A283-91ED02E4B8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0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086600" y="-457200"/>
            <a:ext cx="3200400" cy="32004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StressNet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Stress Prediction for Tourist Bridges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943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92608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148840" y="2926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292608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0" y="2926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292608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2926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292608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2926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4041" y="3834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L&amp;T Team 2  | Bridge Health Monitoring System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BA5FAA-4EEA-9962-D556-F5928D2909D8}"/>
              </a:ext>
            </a:extLst>
          </p:cNvPr>
          <p:cNvSpPr txBox="1"/>
          <p:nvPr/>
        </p:nvSpPr>
        <p:spPr>
          <a:xfrm>
            <a:off x="358727" y="4157545"/>
            <a:ext cx="2764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Aaron Shyjan</a:t>
            </a:r>
          </a:p>
          <a:p>
            <a:r>
              <a:rPr lang="en-US" sz="1200" dirty="0">
                <a:solidFill>
                  <a:schemeClr val="bg1"/>
                </a:solidFill>
              </a:rPr>
              <a:t>Aishvi Tyagi</a:t>
            </a:r>
          </a:p>
          <a:p>
            <a:r>
              <a:rPr lang="en-US" sz="1200" dirty="0">
                <a:solidFill>
                  <a:schemeClr val="bg1"/>
                </a:solidFill>
              </a:rPr>
              <a:t>Alan Chris Dsilva</a:t>
            </a:r>
          </a:p>
          <a:p>
            <a:r>
              <a:rPr lang="en-IN" sz="1200" dirty="0">
                <a:solidFill>
                  <a:schemeClr val="bg1"/>
                </a:solidFill>
              </a:rPr>
              <a:t>Gayathri MP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09728" cy="4229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bridges globally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real-time monitoring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7315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4612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4612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bridge collapses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overload since 2000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72hrs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detection delay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manual inspection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Challenges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surges at tourist bridges create sudden, unpredictable overloads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Temperature-driven thermal expansion silently amplifies structural stress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 leads to expensive emergency repairs and safety risks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C8CCF-A3EB-D6B7-7538-3C351023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6D5CAD-D2A7-5CAB-FBFC-32B83FB24C51}"/>
              </a:ext>
            </a:extLst>
          </p:cNvPr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0B0A48-3DAE-283E-9D54-90F0261EB28C}"/>
              </a:ext>
            </a:extLst>
          </p:cNvPr>
          <p:cNvSpPr/>
          <p:nvPr/>
        </p:nvSpPr>
        <p:spPr>
          <a:xfrm>
            <a:off x="36576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80DAC5-0558-DBE1-5CE6-49723FD96668}"/>
              </a:ext>
            </a:extLst>
          </p:cNvPr>
          <p:cNvSpPr/>
          <p:nvPr/>
        </p:nvSpPr>
        <p:spPr>
          <a:xfrm>
            <a:off x="36576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442BA0-A4B3-E1F1-5841-FE09CFA768C4}"/>
              </a:ext>
            </a:extLst>
          </p:cNvPr>
          <p:cNvSpPr/>
          <p:nvPr/>
        </p:nvSpPr>
        <p:spPr>
          <a:xfrm>
            <a:off x="324612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0B7F9D2-E340-1933-76E2-A31349B4D8CC}"/>
              </a:ext>
            </a:extLst>
          </p:cNvPr>
          <p:cNvSpPr/>
          <p:nvPr/>
        </p:nvSpPr>
        <p:spPr>
          <a:xfrm>
            <a:off x="6126480" y="1234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5A60B0D-41BF-556C-9538-6BD8CB6A3A8A}"/>
              </a:ext>
            </a:extLst>
          </p:cNvPr>
          <p:cNvSpPr/>
          <p:nvPr/>
        </p:nvSpPr>
        <p:spPr>
          <a:xfrm>
            <a:off x="612648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421F17-3E1A-FB6A-7160-A83F937C69BC}"/>
              </a:ext>
            </a:extLst>
          </p:cNvPr>
          <p:cNvSpPr/>
          <p:nvPr/>
        </p:nvSpPr>
        <p:spPr>
          <a:xfrm>
            <a:off x="36576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C469A58-5CF4-673D-E0C4-470F2B9851E5}"/>
              </a:ext>
            </a:extLst>
          </p:cNvPr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915112A-DB53-1A23-02BB-8B26C25AA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"/>
            <a:ext cx="9144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535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DF5256-7040-2A18-DFD7-84CF065D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9" y="134112"/>
            <a:ext cx="4363452" cy="3108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659BEB-F362-0E7B-655D-DF6514B2D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79" y="3279717"/>
            <a:ext cx="4363452" cy="1729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4C833A-1DE5-4BF3-31CA-28BAB63F0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4112"/>
            <a:ext cx="4450721" cy="487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96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real-time IoT + AI system that monitors, predicts, and alerts on bridge structural stress — before failure occurs.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74520"/>
            <a:ext cx="1965960" cy="26517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3090672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Load Cell,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Pressure sensors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bridge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127248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1874520"/>
            <a:ext cx="1965960" cy="26517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68880" y="18745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19933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68880" y="2651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3090672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ThingSpeak cloud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streams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telemetry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3127248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7720" y="1874520"/>
            <a:ext cx="1965960" cy="26517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17720" y="18745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17720" y="19933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2651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17720" y="3090672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ML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stress: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Warning / Critical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127248"/>
            <a:ext cx="182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66560" y="1874520"/>
            <a:ext cx="1965960" cy="2651760"/>
          </a:xfrm>
          <a:prstGeom prst="rect">
            <a:avLst/>
          </a:prstGeom>
          <a:solidFill>
            <a:srgbClr val="122040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766560" y="18745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66560" y="19933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3090672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real-time alerts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stakeholders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5D0C1-0EFE-4655-FFFE-00D8093C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EE5261-9745-B167-5422-7567AC4EE4F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68633A-0F03-CA68-C198-FA8FB7C86713}"/>
              </a:ext>
            </a:extLst>
          </p:cNvPr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2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9434261-E2F3-65EC-7383-7346DF1A4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1" y="1084323"/>
            <a:ext cx="3235477" cy="385779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95DB05B-8852-EEEA-3E78-A677656FC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975" y="1084323"/>
            <a:ext cx="5277882" cy="385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73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18304" y="169164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03136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Real-time data pipeline flows continuously from sensor → cloud → ML → dashboard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E685827-368F-32FC-E4A8-BA2E5DD79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7138"/>
            <a:ext cx="9144000" cy="128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HARDWARE SETUP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5029200" cy="822960"/>
          </a:xfrm>
          <a:prstGeom prst="rect">
            <a:avLst/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4048" y="10515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1247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 Microcontroller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72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 &amp; WiFi gateway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5029200" cy="822960"/>
          </a:xfrm>
          <a:prstGeom prst="rect">
            <a:avLst/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0848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HX711 + Load Cell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432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structural load in kg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5029200" cy="822960"/>
          </a:xfrm>
          <a:prstGeom prst="rect">
            <a:avLst/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9718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0449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DHT22 Sensor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392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ambient temperature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5029200" cy="822960"/>
          </a:xfrm>
          <a:prstGeom prst="rect">
            <a:avLst/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39319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📟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40050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BMP180 Sensor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352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barometric pressure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051560"/>
            <a:ext cx="3246120" cy="3291840"/>
          </a:xfrm>
          <a:prstGeom prst="rect">
            <a:avLst/>
          </a:prstGeom>
          <a:solidFill>
            <a:srgbClr val="122040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577840" y="10515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ThingSpeak Channel Fields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1508760"/>
            <a:ext cx="3246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715000" y="1691640"/>
            <a:ext cx="54864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852160" y="1709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1892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load_kg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423160"/>
            <a:ext cx="54864" cy="45720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52160" y="2441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15000" y="315468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852160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0" y="3355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3840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script (smartbridge_esp32.ino)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samples sensors &amp;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data via WiFi to cloud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9C1EB-D834-A6D2-E327-A319E30F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50D65CE2-56AA-EDB3-26FD-1F3AF3CCD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29" y="700097"/>
            <a:ext cx="7827942" cy="418221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E620226-1D4F-A9F2-61E9-B2F0ED51C0A2}"/>
              </a:ext>
            </a:extLst>
          </p:cNvPr>
          <p:cNvSpPr txBox="1"/>
          <p:nvPr/>
        </p:nvSpPr>
        <p:spPr>
          <a:xfrm>
            <a:off x="3608832" y="98351"/>
            <a:ext cx="1377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CIRCUIT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62078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43424" y="103022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Classifier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0" y="11003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Output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0720" y="1697736"/>
            <a:ext cx="3063240" cy="67970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25568" y="1719072"/>
            <a:ext cx="682752" cy="56692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6002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/>
              <a:t>573 records (57.3%) </a:t>
            </a:r>
          </a:p>
          <a:p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within safe operating parameters. No action required.</a:t>
            </a:r>
            <a:endParaRPr lang="en-US" sz="1100" b="1" dirty="0"/>
          </a:p>
        </p:txBody>
      </p:sp>
      <p:sp>
        <p:nvSpPr>
          <p:cNvPr id="11" name="Shape 9"/>
          <p:cNvSpPr/>
          <p:nvPr/>
        </p:nvSpPr>
        <p:spPr>
          <a:xfrm>
            <a:off x="5760720" y="2766062"/>
            <a:ext cx="3063240" cy="685192"/>
          </a:xfrm>
          <a:prstGeom prst="rect">
            <a:avLst/>
          </a:prstGeom>
          <a:solidFill>
            <a:srgbClr val="FFFFFF"/>
          </a:solidFill>
          <a:ln w="25400">
            <a:solidFill>
              <a:srgbClr val="FFC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25568" y="2804923"/>
            <a:ext cx="682752" cy="5638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72228" y="2823212"/>
            <a:ext cx="78943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/>
              <a:t>266 records (26.6%) </a:t>
            </a:r>
          </a:p>
          <a:p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stress threshold. Monitor closely and restrict access if needed.</a:t>
            </a:r>
            <a:endParaRPr lang="en-US" sz="1100" b="1" dirty="0"/>
          </a:p>
        </p:txBody>
      </p:sp>
      <p:sp>
        <p:nvSpPr>
          <p:cNvPr id="15" name="Shape 13"/>
          <p:cNvSpPr/>
          <p:nvPr/>
        </p:nvSpPr>
        <p:spPr>
          <a:xfrm>
            <a:off x="5760720" y="3863342"/>
            <a:ext cx="3063240" cy="669187"/>
          </a:xfrm>
          <a:prstGeom prst="rect">
            <a:avLst/>
          </a:prstGeom>
          <a:solidFill>
            <a:srgbClr val="FFFFFF"/>
          </a:solidFill>
          <a:ln w="25400">
            <a:solidFill>
              <a:srgbClr val="F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37760" y="3886198"/>
            <a:ext cx="670560" cy="563881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87824" y="3680461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CRITICAL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37947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/>
              <a:t>161 records (16.1%) </a:t>
            </a:r>
          </a:p>
          <a:p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required! Restrict bridge access      to prevent structural failure.</a:t>
            </a:r>
            <a:endParaRPr lang="en-US" sz="1100" b="1" dirty="0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31031C62-E7A9-4144-8001-A8CA9C68F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80" y="1125542"/>
            <a:ext cx="474678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Dataset: 1000 synthetic records (physics-based generation)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Train/Test Split: 800 train / 200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load_kg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temperature, pressure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 Classes: Normal, Warning, Critical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Files: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stress_xgboost_model.pkl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label_encoder.pkl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BC01BE49-3F69-043B-57D0-D3C632DB0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127339"/>
              </p:ext>
            </p:extLst>
          </p:nvPr>
        </p:nvGraphicFramePr>
        <p:xfrm>
          <a:off x="217515" y="2934220"/>
          <a:ext cx="4311815" cy="1969172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862363">
                  <a:extLst>
                    <a:ext uri="{9D8B030D-6E8A-4147-A177-3AD203B41FA5}">
                      <a16:colId xmlns:a16="http://schemas.microsoft.com/office/drawing/2014/main" val="2118721156"/>
                    </a:ext>
                  </a:extLst>
                </a:gridCol>
                <a:gridCol w="862363">
                  <a:extLst>
                    <a:ext uri="{9D8B030D-6E8A-4147-A177-3AD203B41FA5}">
                      <a16:colId xmlns:a16="http://schemas.microsoft.com/office/drawing/2014/main" val="1436290386"/>
                    </a:ext>
                  </a:extLst>
                </a:gridCol>
                <a:gridCol w="862363">
                  <a:extLst>
                    <a:ext uri="{9D8B030D-6E8A-4147-A177-3AD203B41FA5}">
                      <a16:colId xmlns:a16="http://schemas.microsoft.com/office/drawing/2014/main" val="3458115491"/>
                    </a:ext>
                  </a:extLst>
                </a:gridCol>
                <a:gridCol w="862363">
                  <a:extLst>
                    <a:ext uri="{9D8B030D-6E8A-4147-A177-3AD203B41FA5}">
                      <a16:colId xmlns:a16="http://schemas.microsoft.com/office/drawing/2014/main" val="1845028664"/>
                    </a:ext>
                  </a:extLst>
                </a:gridCol>
                <a:gridCol w="862363">
                  <a:extLst>
                    <a:ext uri="{9D8B030D-6E8A-4147-A177-3AD203B41FA5}">
                      <a16:colId xmlns:a16="http://schemas.microsoft.com/office/drawing/2014/main" val="433526672"/>
                    </a:ext>
                  </a:extLst>
                </a:gridCol>
              </a:tblGrid>
              <a:tr h="52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5312978"/>
                  </a:ext>
                </a:extLst>
              </a:tr>
              <a:tr h="30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Critical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1.00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0.98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969915"/>
                  </a:ext>
                </a:extLst>
              </a:tr>
              <a:tr h="30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8384739"/>
                  </a:ext>
                </a:extLst>
              </a:tr>
              <a:tr h="301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Warning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0.99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2767278"/>
                  </a:ext>
                </a:extLst>
              </a:tr>
              <a:tr h="527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Macro </a:t>
                      </a:r>
                      <a:r>
                        <a:rPr lang="en-IN" sz="1400" b="1" dirty="0" err="1"/>
                        <a:t>Avg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0.98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0.98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0.98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63366"/>
                  </a:ext>
                </a:extLst>
              </a:tr>
            </a:tbl>
          </a:graphicData>
        </a:graphic>
      </p:graphicFrame>
      <p:sp>
        <p:nvSpPr>
          <p:cNvPr id="27" name="Rectangle 5">
            <a:extLst>
              <a:ext uri="{FF2B5EF4-FFF2-40B4-BE49-F238E27FC236}">
                <a16:creationId xmlns:a16="http://schemas.microsoft.com/office/drawing/2014/main" id="{C9017894-0E9A-4211-3FFB-BFBAF0C8B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560" y="4655970"/>
            <a:ext cx="3563112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Accuracy: 98%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DASHBOARD</a:t>
            </a:r>
            <a:endParaRPr lang="en-US" sz="2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8FB9818-648E-FDFE-E1B7-DE2223466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1067810"/>
            <a:ext cx="8488299" cy="3880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INFERENCE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4632" y="121615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Sampling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801368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reads load, temperature &amp; pressure from sensors continuously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64992" y="121615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64992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Upload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801368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transmitted via WiFi to ThingSpeak channel fields in real-time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45352" y="121615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5352" y="1216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Polling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801368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smartbridge_real_time_prediction.py polls ThingSpeak API periodically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" y="313639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Inference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3721608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readings fed into ML model → stress classification returned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64992" y="313639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6499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&amp; Alert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64992" y="3721608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streamed to stdout + saved to smartbridge_live_predictions.csv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9748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A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45352" y="3136392"/>
            <a:ext cx="502920" cy="50292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4535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3154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Refresh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5352" y="3721608"/>
            <a:ext cx="2423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reads CSV / ThingSpeak, refreshes every 10 seconds automatically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122040"/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73152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18872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Crowd Safety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prevents catastrophic failure caused by flash crowds or tourist events exceeding pedestrian density limits.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solidFill>
            <a:srgbClr val="122040"/>
          </a:solidFill>
          <a:ln w="19050">
            <a:solidFill>
              <a:srgbClr val="FFC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73152" cy="109728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25880" y="24505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 Detection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81635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transition from Warning → Critical gives authorities vital minutes to restrict bridge access before physical yielding occurs.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8412480" cy="1097280"/>
          </a:xfrm>
          <a:prstGeom prst="rect">
            <a:avLst/>
          </a:prstGeom>
          <a:solidFill>
            <a:srgbClr val="122040"/>
          </a:solidFill>
          <a:ln w="19050">
            <a:solidFill>
              <a:srgbClr val="00B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73152" cy="109728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621024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371246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Warning 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7822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temperature with load alerts operators to thermal expansion weaknesses. Maintenance shifts from reactive repair to proactive science.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bridge safety from reactive emergency response → data-driven proactive management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77A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StressNet — Keeping bridges safe, one data point at a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</a:t>
            </a: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github.com/alan61503/L-T---team-2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L&amp;T Team 2  |  IoT + AI Bridge Health Monitoring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614</Words>
  <Application>Microsoft Office PowerPoint</Application>
  <PresentationFormat>On-screen Show (16:9)</PresentationFormat>
  <Paragraphs>167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StressNet - Structural Stress Prediction for Tourist Bridges</dc:title>
  <dc:subject>PptxGenJS Presentation</dc:subject>
  <dc:creator>PptxGenJS</dc:creator>
  <cp:lastModifiedBy>Aaron Shyjan</cp:lastModifiedBy>
  <cp:revision>4</cp:revision>
  <dcterms:created xsi:type="dcterms:W3CDTF">2026-04-10T03:51:20Z</dcterms:created>
  <dcterms:modified xsi:type="dcterms:W3CDTF">2026-04-10T10:53:06Z</dcterms:modified>
</cp:coreProperties>
</file>